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569"/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AI-Based Automated Answer Sheet Evaluation System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Digital Handwriting Capture &amp; Intelligent Text Digitization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✍️ Digital Handwriting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HTML5 Canvas Stroke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3657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891B2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⚡ FastAPI &amp; PaddleOCR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PP-OCRv5 Microservice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657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891B2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9184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3429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Digitized Text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Structured Machine-Readable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rPr dirty="0"/>
              <a:t>TEAM MEMBERS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lang="en-IN" dirty="0"/>
              <a:t>Joshi Manthan(D25CE155)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3566160" y="512064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rPr dirty="0"/>
              <a:t>PROJECT GUIDE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lang="en-IN" dirty="0" err="1"/>
              <a:t>Dr.Ashwin</a:t>
            </a:r>
            <a:r>
              <a:rPr lang="en-IN" dirty="0"/>
              <a:t> Makwana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217920" y="512064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rPr dirty="0"/>
              <a:t>DEPARTMENT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dirty="0"/>
              <a:t>Computer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512064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5257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rPr dirty="0"/>
              <a:t>ACADEMIC YEAR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dirty="0"/>
              <a:t>202</a:t>
            </a:r>
            <a:r>
              <a:rPr lang="en-IN" dirty="0"/>
              <a:t>6</a:t>
            </a:r>
            <a:r>
              <a:rPr dirty="0"/>
              <a:t> – 202</a:t>
            </a:r>
            <a:r>
              <a:rPr lang="en-IN" dirty="0"/>
              <a:t>7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⚠️ Problem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Traditional handwritten answer-sheet processing is manual, labor-intensive, and difficult to digitize automatically for evaluation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💡 Solution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Captures digital handwritten responses from canvas interfaces and processes them through an integrated OpenCV + PaddleOCR neural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🎯 Current Milestone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Converts handwritten answers into accurate, machine-readable digitized text, laying the foundation for downstream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Workflow Summary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PROBLEM (Manual Sheet Handling) ➔ DIGITAL CAPTURE (Canvas Strokes) ➔ OCR PIPELINE (FastAPI + PP-OCRv5) ➔ DIGITIZED TEXT (MongoDB Persistence)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Digitize Handwritten Answers?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Conventional Answer-Sheet Challenges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Manual handling and sorting of physical answer sheets</a:t>
            </a:r>
            <a:br/>
            <a:br/>
            <a:r>
              <a:t>• Time-consuming manual data entry and transcription</a:t>
            </a:r>
            <a:br/>
            <a:br/>
            <a:r>
              <a:t>• Unstructured handwriting hinders machine processing</a:t>
            </a:r>
            <a:br/>
            <a:br/>
            <a:r>
              <a:t>• Question-wise answer extraction is difficult on physical paper</a:t>
            </a:r>
            <a:br/>
            <a:br/>
            <a:r>
              <a:t>• Requires significant human effort prior to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Process Comparison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TRADITIONAL PROCESS:</a:t>
            </a:r>
            <a:br/>
            <a:r>
              <a:t>Physical Paper ➔ Manual Reading ➔ Manual Entry ➔ Evaluation</a:t>
            </a:r>
            <a:br/>
            <a:br/>
            <a:r>
              <a:t>PROPOSED SYSTEM:</a:t>
            </a:r>
            <a:br/>
            <a:r>
              <a:t>Digital Handwriting ➔ Image Preprocessing ➔ PaddleOCR ➔ Digitized Text</a:t>
            </a:r>
            <a:br/>
            <a:br/>
            <a:r>
              <a:t>KEY BENEFIT:</a:t>
            </a:r>
            <a:br/>
            <a:r>
              <a:t>Substantially reduces manual data-entry dependency and creates structured digital records.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Digital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01</a:t>
            </a:r>
            <a:br/>
            <a:r>
              <a:t>Student Writes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Digital pen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011680"/>
            <a:ext cx="1645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79192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02</a:t>
            </a:r>
            <a:br/>
            <a:r>
              <a:t>Stroke Capture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(x,y,t) 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011680"/>
            <a:ext cx="1645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03</a:t>
            </a:r>
            <a:br/>
            <a:r>
              <a:t>Answer Image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Render 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011680"/>
            <a:ext cx="1645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04</a:t>
            </a:r>
            <a:br/>
            <a:r>
              <a:t>Preprocessing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CLAHE &amp;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011680"/>
            <a:ext cx="1645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STEP 05</a:t>
            </a:r>
            <a:br/>
            <a:r>
              <a:t>PaddleOCR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PP-OCRv5 HWR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011680"/>
            <a:ext cx="1645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21240" y="2148840"/>
            <a:ext cx="137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STEP 06</a:t>
            </a:r>
            <a:br/>
            <a:r>
              <a:t>Digitized Text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MongoDB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Core Solution Statement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“Transforming handwritten digital responses into structured, machine-readable text.”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167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rPr dirty="0"/>
              <a:t>Microservice Flow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dirty="0"/>
              <a:t>Student Canvas (React 19 + Vite)</a:t>
            </a:r>
            <a:br>
              <a:rPr dirty="0"/>
            </a:br>
            <a:r>
              <a:rPr dirty="0"/>
              <a:t>  │  POST /</a:t>
            </a:r>
            <a:r>
              <a:rPr dirty="0" err="1"/>
              <a:t>api</a:t>
            </a:r>
            <a:r>
              <a:rPr dirty="0"/>
              <a:t>/v1/student/answer-sheets</a:t>
            </a:r>
            <a:br>
              <a:rPr dirty="0"/>
            </a:br>
            <a:r>
              <a:rPr dirty="0"/>
              <a:t> ▼</a:t>
            </a:r>
            <a:br>
              <a:rPr dirty="0"/>
            </a:br>
            <a:r>
              <a:rPr dirty="0"/>
              <a:t>Node.js + Express Backend Server</a:t>
            </a:r>
            <a:br>
              <a:rPr dirty="0"/>
            </a:br>
            <a:r>
              <a:rPr dirty="0"/>
              <a:t>  │  Asynchronous HTTP Payload</a:t>
            </a:r>
            <a:br>
              <a:rPr dirty="0"/>
            </a:br>
            <a:r>
              <a:rPr dirty="0"/>
              <a:t> ▼</a:t>
            </a:r>
            <a:br>
              <a:rPr dirty="0"/>
            </a:br>
            <a:r>
              <a:rPr dirty="0" err="1"/>
              <a:t>FastAPI</a:t>
            </a:r>
            <a:r>
              <a:rPr dirty="0"/>
              <a:t> Python OCR Service (Port 8000)</a:t>
            </a:r>
            <a:br>
              <a:rPr dirty="0"/>
            </a:br>
            <a:r>
              <a:rPr dirty="0"/>
              <a:t>  │  Image Preprocessing &amp; PP-OCRv5</a:t>
            </a:r>
            <a:br>
              <a:rPr dirty="0"/>
            </a:br>
            <a:r>
              <a:rPr dirty="0"/>
              <a:t> ▼</a:t>
            </a:r>
            <a:br>
              <a:rPr dirty="0"/>
            </a:br>
            <a:r>
              <a:rPr dirty="0"/>
              <a:t>MongoDB Persistence (</a:t>
            </a:r>
            <a:r>
              <a:rPr dirty="0" err="1"/>
              <a:t>AnswerSheet</a:t>
            </a:r>
            <a:r>
              <a:rPr dirty="0"/>
              <a:t> Collection)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Component Responsibilities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FRONTEND (React + Vite):</a:t>
            </a:r>
            <a:br/>
            <a:r>
              <a:t>Captures vector strokes and question-wise assignments.</a:t>
            </a:r>
            <a:br/>
            <a:br/>
            <a:r>
              <a:t>BACKEND (Node.js + Express):</a:t>
            </a:r>
            <a:br/>
            <a:r>
              <a:t>Orchestrates JWT auth, status flow, and async execution.</a:t>
            </a:r>
            <a:br/>
            <a:br/>
            <a:r>
              <a:t>OCR SERVICE (FastAPI + PaddleOCR):</a:t>
            </a:r>
            <a:br/>
            <a:r>
              <a:t>Executes OpenCV preprocessing &amp; PP-OCRv5 neural inference.</a:t>
            </a:r>
            <a:br/>
            <a:br/>
            <a:r>
              <a:t>DATABASE (MongoDB):</a:t>
            </a:r>
            <a:br/>
            <a:r>
              <a:t>Persists stroke data, generated images, and extracted text.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End-to-End Handwriting Recognition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STAGE 1: CAPTURE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Collect vector strokes from HTML5 digital answer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STAGE 2: PREPROCESS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Normalize DPI, CLAHE contrast enhancement, and grayscale thresholding.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STAGE 3: RECOGNIZE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PP-OCRv5 neural model predicts handwritten characters.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STAGE 4: EXTRACT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Generates clean machine-readable text with confidence metrics.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React 19</a:t>
            </a:r>
            <a:br/>
            <a:r>
              <a:t>• Vite</a:t>
            </a:r>
            <a:br/>
            <a:r>
              <a:t>• Axios Client</a:t>
            </a:r>
            <a:br/>
            <a:r>
              <a:t>• HTML5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Node.js (ESM)</a:t>
            </a:r>
            <a:br/>
            <a:r>
              <a:t>• Express.js</a:t>
            </a:r>
            <a:br/>
            <a:r>
              <a:t>• JWT Security</a:t>
            </a:r>
            <a:br/>
            <a:r>
              <a:t>• Mongoose ODM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OCR / AI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Python 3.11</a:t>
            </a:r>
            <a:br/>
            <a:r>
              <a:t>• FastAPI</a:t>
            </a:r>
            <a:br/>
            <a:r>
              <a:t>• PaddleOCR 3.7.0</a:t>
            </a:r>
            <a:br/>
            <a:r>
              <a:t>• PP-OCRv5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9659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DATABASE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MongoDB</a:t>
            </a:r>
            <a:br/>
            <a:r>
              <a:t>• REST APIs</a:t>
            </a:r>
            <a:br/>
            <a:r>
              <a:t>• JSON Payloads</a:t>
            </a:r>
            <a:br/>
            <a:r>
              <a:t>• Modular Architecture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89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CAPTURE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Digital Handwritten Answer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Functional Pipeline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01 — WRITE:</a:t>
            </a:r>
            <a:br/>
            <a:r>
              <a:t>Student writes answers directly using digital stylus on responsive canvas.</a:t>
            </a:r>
            <a:br/>
            <a:br/>
            <a:r>
              <a:t>02 — CAPTURE:</a:t>
            </a:r>
            <a:br/>
            <a:r>
              <a:t>Real-time stroke capture mapped question-by-question with timestamp vectors.</a:t>
            </a:r>
            <a:br/>
            <a:br/>
            <a:r>
              <a:t>03 — PREPARE:</a:t>
            </a:r>
            <a:br/>
            <a:r>
              <a:t>Renders high-contrast PNG bitmap ready for OCR microservice processing.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D17FA187-9C69-D61C-8B88-350CF547A505}"/>
              </a:ext>
            </a:extLst>
          </p:cNvPr>
          <p:cNvSpPr/>
          <p:nvPr/>
        </p:nvSpPr>
        <p:spPr>
          <a:xfrm>
            <a:off x="6431282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3571AA-504C-CF39-4DAB-A236F27E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" t="13117" r="6837" b="10043"/>
          <a:stretch>
            <a:fillRect/>
          </a:stretch>
        </p:blipFill>
        <p:spPr>
          <a:xfrm>
            <a:off x="6492239" y="2194560"/>
            <a:ext cx="4831081" cy="3307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OPENCV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OCR Image Preprocessing Pipeline</a:t>
            </a:r>
          </a:p>
        </p:txBody>
      </p:sp>
      <p:pic>
        <p:nvPicPr>
          <p:cNvPr id="5" name="Picture 4" descr="01_original_canvas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011680" cy="11539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474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Raw Render</a:t>
            </a:r>
          </a:p>
        </p:txBody>
      </p:sp>
      <p:pic>
        <p:nvPicPr>
          <p:cNvPr id="8" name="Picture 7" descr="02_upsca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1645920"/>
            <a:ext cx="2011680" cy="9404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907792" y="3474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Upscale</a:t>
            </a:r>
          </a:p>
        </p:txBody>
      </p:sp>
      <p:pic>
        <p:nvPicPr>
          <p:cNvPr id="11" name="Picture 10" descr="03_gray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645920"/>
            <a:ext cx="2011680" cy="9404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84064" y="3474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Grayscale</a:t>
            </a:r>
          </a:p>
        </p:txBody>
      </p:sp>
      <p:pic>
        <p:nvPicPr>
          <p:cNvPr id="14" name="Picture 13" descr="04_contrast_enhanc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1645920"/>
            <a:ext cx="2011680" cy="9404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60336" y="3474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97496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4. CLAHE</a:t>
            </a:r>
          </a:p>
        </p:txBody>
      </p:sp>
      <p:pic>
        <p:nvPicPr>
          <p:cNvPr id="17" name="Picture 16" descr="02_upsca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08" y="1645920"/>
            <a:ext cx="2011680" cy="9404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436608" y="3474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3768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5. Thresholded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t>Preprocessing Explanations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Resize: Standardizes stroke DPI and thickness.  |  CLAHE: Enhances stroke boundary contrast.</a:t>
            </a:r>
            <a:br/>
            <a:r>
              <a:t>Thresholding: Separates handwriting strokes cleanly from background noise for neural inference.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HWR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PaddleOCR Recognition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Microservice Execution Flow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Processed Answer Image PNG</a:t>
            </a:r>
            <a:br/>
            <a:r>
              <a:t>  │</a:t>
            </a:r>
            <a:br/>
            <a:r>
              <a:t>  ▼</a:t>
            </a:r>
            <a:br/>
            <a:r>
              <a:t>FastAPI POST /api/v1/ocr/recognize-strokes</a:t>
            </a:r>
            <a:br/>
            <a:r>
              <a:t>  │</a:t>
            </a:r>
            <a:br/>
            <a:r>
              <a:t>  ▼</a:t>
            </a:r>
            <a:br/>
            <a:r>
              <a:t>PaddleHWRProvider (PaddleOCR 3.7.0 / PP-OCRv5)</a:t>
            </a:r>
            <a:br/>
            <a:r>
              <a:t>  │</a:t>
            </a:r>
            <a:br/>
            <a:r>
              <a:t>  ▼</a:t>
            </a:r>
            <a:br/>
            <a:r>
              <a:t>Extracted Text String + Confidence Score</a:t>
            </a:r>
            <a:br/>
            <a:r>
              <a:t>  │</a:t>
            </a:r>
            <a:br/>
            <a:r>
              <a:t>  ▼</a:t>
            </a:r>
            <a:br/>
            <a:r>
              <a:t>MongoDB Persistence (AnswerSheet Document)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Microservice Features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RESTful API-based microservice architecture</a:t>
            </a:r>
            <a:br/>
            <a:br/>
            <a:r>
              <a:t>• Python 3.11 FastAPI high-throughput server</a:t>
            </a:r>
            <a:br/>
            <a:br/>
            <a:r>
              <a:t>• PaddleOCR PP-OCRv5 mobile recognition neural head</a:t>
            </a:r>
            <a:br/>
            <a:br/>
            <a:r>
              <a:t>• Lazy engine loading to preserve system RAM</a:t>
            </a:r>
            <a:br/>
            <a:br/>
            <a:r>
              <a:t>• Structured JSON response with confidence scoring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CORE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Handwritten Answer → Digitized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INPUT: HANDWRITTEN CANVAS STROKES</a:t>
            </a:r>
          </a:p>
        </p:txBody>
      </p:sp>
      <p:pic>
        <p:nvPicPr>
          <p:cNvPr id="7" name="Picture 6" descr="02_up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94560"/>
            <a:ext cx="4572000" cy="21374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84193" y="16916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cap="all" dirty="0">
                <a:solidFill>
                  <a:schemeClr val="tx1"/>
                </a:solidFill>
              </a:rPr>
              <a:t>OCR Digitized Text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i="1" dirty="0">
                <a:solidFill>
                  <a:schemeClr val="tx1"/>
                </a:solidFill>
              </a:rPr>
              <a:t>"AB"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rPr dirty="0"/>
              <a:t>OUTPUT: DIGITIZED TEXT (PADDLEOCR)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Core Milestone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Digital handwriting successfully transformed into machine-readable text.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API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OCR API Response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JSON Response Payload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{</a:t>
            </a:r>
            <a:br/>
            <a:r>
              <a:t>  "success": true,</a:t>
            </a:r>
            <a:br/>
            <a:r>
              <a:t>  "message": "Handwriting recognition completed.",</a:t>
            </a:r>
            <a:br/>
            <a:r>
              <a:t>  "data": {</a:t>
            </a:r>
            <a:br/>
            <a:r>
              <a:t>    "answerSheetId": "6a97c197883c3047ee452bed",</a:t>
            </a:r>
            <a:br/>
            <a:r>
              <a:t>    "provider": "paddle",</a:t>
            </a:r>
            <a:br/>
            <a:r>
              <a:t>    "executionTimeSec": 82.84,</a:t>
            </a:r>
            <a:br/>
            <a:r>
              <a:t>    "overallConfidence": 0.6137,</a:t>
            </a:r>
            <a:br/>
            <a:r>
              <a:t>    "extractedText": "Q1: ADDLE OLR PERSISTENTE (",</a:t>
            </a:r>
            <a:br/>
            <a:r>
              <a:t>    "answers": [{</a:t>
            </a:r>
            <a:br/>
            <a:r>
              <a:t>      "questionId": "q1",</a:t>
            </a:r>
            <a:br/>
            <a:r>
              <a:t>      "recognizedText": "ADDLE OLR PERSISTENTE (",</a:t>
            </a:r>
            <a:br/>
            <a:r>
              <a:t>      "hwrStatus": "Completed"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Field Explanations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extractedText:</a:t>
            </a:r>
            <a:br/>
            <a:r>
              <a:t>Concatenated transcribed text stored in MongoDB.</a:t>
            </a:r>
            <a:br/>
            <a:br/>
            <a:r>
              <a:t>confidence:</a:t>
            </a:r>
            <a:br/>
            <a:r>
              <a:t>Neural confidence metric generated by PP-OCRv5 head.</a:t>
            </a:r>
            <a:br/>
            <a:br/>
            <a:r>
              <a:t>executionTimeSec:</a:t>
            </a:r>
            <a:br/>
            <a:r>
              <a:t>Total latency for stroke rendering &amp; inference.</a:t>
            </a:r>
            <a:br/>
            <a:br/>
            <a:r>
              <a:t>hwrStatus:</a:t>
            </a:r>
            <a:br/>
            <a:r>
              <a:t>Completion flag for background job polling.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&amp; Pipeline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7128" y="1841803"/>
            <a:ext cx="475488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rPr dirty="0"/>
              <a:t>Verified Acceptance Criteria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dirty="0">
                <a:solidFill>
                  <a:srgbClr val="475569"/>
                </a:solidFill>
              </a:rPr>
              <a:t>✓ Canvas strokes correctly rendered to image files</a:t>
            </a:r>
            <a:br>
              <a:rPr dirty="0">
                <a:solidFill>
                  <a:srgbClr val="475569"/>
                </a:solidFill>
              </a:rPr>
            </a:br>
            <a:br>
              <a:rPr dirty="0">
                <a:solidFill>
                  <a:srgbClr val="475569"/>
                </a:solidFill>
              </a:rPr>
            </a:br>
            <a:r>
              <a:rPr dirty="0">
                <a:solidFill>
                  <a:srgbClr val="475569"/>
                </a:solidFill>
              </a:rPr>
              <a:t>✓ </a:t>
            </a:r>
            <a:r>
              <a:rPr dirty="0" err="1">
                <a:solidFill>
                  <a:srgbClr val="475569"/>
                </a:solidFill>
              </a:rPr>
              <a:t>FastAPI</a:t>
            </a:r>
            <a:r>
              <a:rPr dirty="0">
                <a:solidFill>
                  <a:srgbClr val="475569"/>
                </a:solidFill>
              </a:rPr>
              <a:t> OCR microservice returns 200 OK</a:t>
            </a:r>
            <a:br>
              <a:rPr dirty="0">
                <a:solidFill>
                  <a:srgbClr val="475569"/>
                </a:solidFill>
              </a:rPr>
            </a:br>
            <a:br>
              <a:rPr dirty="0">
                <a:solidFill>
                  <a:srgbClr val="475569"/>
                </a:solidFill>
              </a:rPr>
            </a:br>
            <a:r>
              <a:rPr dirty="0">
                <a:solidFill>
                  <a:srgbClr val="475569"/>
                </a:solidFill>
              </a:rPr>
              <a:t>✓ </a:t>
            </a:r>
            <a:r>
              <a:rPr dirty="0" err="1">
                <a:solidFill>
                  <a:srgbClr val="475569"/>
                </a:solidFill>
              </a:rPr>
              <a:t>PaddleOCR</a:t>
            </a:r>
            <a:r>
              <a:rPr dirty="0">
                <a:solidFill>
                  <a:srgbClr val="475569"/>
                </a:solidFill>
              </a:rPr>
              <a:t> engine executes real neural inference</a:t>
            </a:r>
            <a:br>
              <a:rPr dirty="0">
                <a:solidFill>
                  <a:srgbClr val="475569"/>
                </a:solidFill>
              </a:rPr>
            </a:br>
            <a:br>
              <a:rPr dirty="0">
                <a:solidFill>
                  <a:srgbClr val="475569"/>
                </a:solidFill>
              </a:rPr>
            </a:br>
            <a:r>
              <a:rPr dirty="0">
                <a:solidFill>
                  <a:srgbClr val="475569"/>
                </a:solidFill>
              </a:rPr>
              <a:t>✓ Transcribed text persisted into MongoDB</a:t>
            </a:r>
            <a:br>
              <a:rPr dirty="0">
                <a:solidFill>
                  <a:srgbClr val="475569"/>
                </a:solidFill>
              </a:rPr>
            </a:br>
            <a:br>
              <a:rPr dirty="0">
                <a:solidFill>
                  <a:srgbClr val="475569"/>
                </a:solidFill>
              </a:rPr>
            </a:br>
            <a:r>
              <a:rPr dirty="0">
                <a:solidFill>
                  <a:srgbClr val="475569"/>
                </a:solidFill>
              </a:rPr>
              <a:t>✓ Digitized text bound to Faculty UI display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85CEBBD-935F-6D93-1BE5-48A10B83DCBB}"/>
              </a:ext>
            </a:extLst>
          </p:cNvPr>
          <p:cNvSpPr/>
          <p:nvPr/>
        </p:nvSpPr>
        <p:spPr>
          <a:xfrm>
            <a:off x="6338695" y="1543994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8FAFC"/>
                </a:solidFill>
              </a:defRPr>
            </a:pP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32E527-B608-84F0-091C-5C6F57478442}"/>
              </a:ext>
            </a:extLst>
          </p:cNvPr>
          <p:cNvSpPr/>
          <p:nvPr/>
        </p:nvSpPr>
        <p:spPr>
          <a:xfrm rot="10800000" flipH="1" flipV="1">
            <a:off x="6690640" y="1841803"/>
            <a:ext cx="4431344" cy="23858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rPr lang="en-IN" dirty="0">
                <a:solidFill>
                  <a:srgbClr val="059669"/>
                </a:solidFill>
              </a:rPr>
              <a:t>Microservice Features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rPr lang="en-IN" dirty="0">
                <a:solidFill>
                  <a:srgbClr val="475569"/>
                </a:solidFill>
              </a:rPr>
              <a:t>• RESTful API-based microservice architecture</a:t>
            </a:r>
            <a:br>
              <a:rPr lang="en-IN" dirty="0">
                <a:solidFill>
                  <a:srgbClr val="475569"/>
                </a:solidFill>
              </a:rPr>
            </a:br>
            <a:br>
              <a:rPr lang="en-IN" dirty="0">
                <a:solidFill>
                  <a:srgbClr val="475569"/>
                </a:solidFill>
              </a:rPr>
            </a:br>
            <a:r>
              <a:rPr lang="en-IN" dirty="0">
                <a:solidFill>
                  <a:srgbClr val="475569"/>
                </a:solidFill>
              </a:rPr>
              <a:t>• Python 3.11 </a:t>
            </a:r>
            <a:r>
              <a:rPr lang="en-IN" dirty="0" err="1">
                <a:solidFill>
                  <a:srgbClr val="475569"/>
                </a:solidFill>
              </a:rPr>
              <a:t>FastAPI</a:t>
            </a:r>
            <a:r>
              <a:rPr lang="en-IN" dirty="0">
                <a:solidFill>
                  <a:srgbClr val="475569"/>
                </a:solidFill>
              </a:rPr>
              <a:t> high-throughput server</a:t>
            </a:r>
            <a:br>
              <a:rPr lang="en-IN" dirty="0">
                <a:solidFill>
                  <a:srgbClr val="475569"/>
                </a:solidFill>
              </a:rPr>
            </a:br>
            <a:br>
              <a:rPr lang="en-IN" dirty="0">
                <a:solidFill>
                  <a:srgbClr val="475569"/>
                </a:solidFill>
              </a:rPr>
            </a:br>
            <a:r>
              <a:rPr lang="en-IN" dirty="0">
                <a:solidFill>
                  <a:srgbClr val="475569"/>
                </a:solidFill>
              </a:rPr>
              <a:t>• </a:t>
            </a:r>
            <a:r>
              <a:rPr lang="en-IN" dirty="0" err="1">
                <a:solidFill>
                  <a:srgbClr val="475569"/>
                </a:solidFill>
              </a:rPr>
              <a:t>PaddleOCR</a:t>
            </a:r>
            <a:r>
              <a:rPr lang="en-IN" dirty="0">
                <a:solidFill>
                  <a:srgbClr val="475569"/>
                </a:solidFill>
              </a:rPr>
              <a:t> PP-OCRv5 mobile recognition neural head</a:t>
            </a:r>
            <a:br>
              <a:rPr lang="en-IN" dirty="0">
                <a:solidFill>
                  <a:srgbClr val="475569"/>
                </a:solidFill>
              </a:rPr>
            </a:br>
            <a:br>
              <a:rPr lang="en-IN" dirty="0">
                <a:solidFill>
                  <a:srgbClr val="475569"/>
                </a:solidFill>
              </a:rPr>
            </a:br>
            <a:r>
              <a:rPr lang="en-IN" dirty="0">
                <a:solidFill>
                  <a:srgbClr val="475569"/>
                </a:solidFill>
              </a:rPr>
              <a:t>• Lazy engine loading to preserve system RAM</a:t>
            </a:r>
            <a:br>
              <a:rPr lang="en-IN" dirty="0">
                <a:solidFill>
                  <a:srgbClr val="475569"/>
                </a:solidFill>
              </a:rPr>
            </a:br>
            <a:br>
              <a:rPr lang="en-IN" dirty="0">
                <a:solidFill>
                  <a:srgbClr val="475569"/>
                </a:solidFill>
              </a:rPr>
            </a:br>
            <a:r>
              <a:rPr lang="en-IN" dirty="0">
                <a:solidFill>
                  <a:srgbClr val="475569"/>
                </a:solidFill>
              </a:rPr>
              <a:t>• Structured JSON response with confidence scoring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89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Current Status &amp; Next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Completed Milestone 1 [Achieved]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✓ Digital Answer Stroke Capture</a:t>
            </a:r>
            <a:br/>
            <a:br/>
            <a:r>
              <a:t>✓ OpenCV Image Preprocessing</a:t>
            </a:r>
            <a:br/>
            <a:br/>
            <a:r>
              <a:t>✓ FastAPI PaddleOCR Integration</a:t>
            </a:r>
            <a:br/>
            <a:br/>
            <a:r>
              <a:t>✓ Neural Handwriting Recognition</a:t>
            </a:r>
            <a:br/>
            <a:br/>
            <a:r>
              <a:t>✓ Machine-Readable Text Digitization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84632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rPr dirty="0"/>
              <a:t>Next Phase [Future Scope]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rPr dirty="0"/>
              <a:t>Digitized Text</a:t>
            </a:r>
            <a:br>
              <a:rPr dirty="0"/>
            </a:br>
            <a:r>
              <a:rPr dirty="0"/>
              <a:t>  │</a:t>
            </a:r>
            <a:br>
              <a:rPr dirty="0"/>
            </a:br>
            <a:r>
              <a:rPr dirty="0"/>
              <a:t> ▼</a:t>
            </a:r>
            <a:br>
              <a:rPr dirty="0"/>
            </a:br>
            <a:r>
              <a:rPr dirty="0"/>
              <a:t>Semantic Answer Understanding (LLM Prompting)</a:t>
            </a:r>
            <a:br>
              <a:rPr dirty="0"/>
            </a:br>
            <a:r>
              <a:rPr dirty="0"/>
              <a:t>  │</a:t>
            </a:r>
            <a:br>
              <a:rPr dirty="0"/>
            </a:br>
            <a:r>
              <a:rPr dirty="0"/>
              <a:t> </a:t>
            </a:r>
            <a:r>
              <a:rPr lang="en-IN" dirty="0"/>
              <a:t>▼</a:t>
            </a:r>
            <a:br>
              <a:rPr dirty="0"/>
            </a:br>
            <a:r>
              <a:rPr dirty="0"/>
              <a:t>Model Answer Comparison &amp; Rubrics</a:t>
            </a:r>
            <a:br>
              <a:rPr dirty="0"/>
            </a:br>
            <a:r>
              <a:rPr dirty="0"/>
              <a:t>  │</a:t>
            </a:r>
            <a:br>
              <a:rPr dirty="0"/>
            </a:br>
            <a:r>
              <a:rPr dirty="0"/>
              <a:t> ▼</a:t>
            </a:r>
            <a:br>
              <a:rPr dirty="0"/>
            </a:br>
            <a:r>
              <a:rPr dirty="0"/>
              <a:t>Automated Marking &amp; Faculty Review Interface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891B2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From Handwriting to Machine-Readable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1. Digital First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Captures handwritten responses directly from digital slates, eliminating physical paper scanning and logistics.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2. Intelligent Digitization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Leverages state-of-the-art PaddleOCR PP-OCRv5 neural models for robust handwriting digitization.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3. AI-Ready Data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Converts raw student handwriting into structured machine-readable text ready for automated downstream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91B2"/>
                </a:solidFill>
              </a:defRPr>
            </a:pPr>
            <a:r>
              <a:t>Closing Statement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“From Digital Handwriting to Machine-Readable Knowledge.”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1271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Joshi Manthan</cp:lastModifiedBy>
  <cp:revision>5</cp:revision>
  <dcterms:created xsi:type="dcterms:W3CDTF">2013-01-27T09:14:16Z</dcterms:created>
  <dcterms:modified xsi:type="dcterms:W3CDTF">2026-09-11T12:57:37Z</dcterms:modified>
  <cp:category/>
</cp:coreProperties>
</file>